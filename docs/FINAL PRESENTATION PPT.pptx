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 w="10160">
            <a:solidFill>
              <a:srgbClr val="F7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292608"/>
            <a:ext cx="5468112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20" b="1" i="0">
                <a:solidFill>
                  <a:srgbClr val="1C3E68"/>
                </a:solidFill>
                <a:latin typeface="Times New Roman"/>
              </a:rPr>
              <a:t>MADRAS INSTITUTE OF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594360"/>
            <a:ext cx="5468112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C3E68"/>
                </a:solidFill>
                <a:latin typeface="Times New Roman"/>
              </a:rPr>
              <a:t>ANNA UNIVERSITY, CHROMEPET, CHENNAI – 600025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941832"/>
            <a:ext cx="546811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19" b="1" i="0">
                <a:solidFill>
                  <a:srgbClr val="BE9643"/>
                </a:solidFill>
                <a:latin typeface="Times New Roman"/>
              </a:rPr>
              <a:t>FINAL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1572768"/>
            <a:ext cx="548640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3800" b="1" i="0">
                <a:solidFill>
                  <a:srgbClr val="1C3E68"/>
                </a:solidFill>
                <a:latin typeface="Times New Roman"/>
              </a:rPr>
              <a:t>EDUNEXUS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340864"/>
            <a:ext cx="5413248" cy="8595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050" b="1" i="0">
                <a:solidFill>
                  <a:srgbClr val="1C3E68"/>
                </a:solidFill>
                <a:latin typeface="Times New Roman"/>
              </a:rPr>
              <a:t>Adaptive Mastery Through
Evidence-Driven Agentic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3502152"/>
            <a:ext cx="5193792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656E79"/>
                </a:solidFill>
                <a:latin typeface="Times New Roman"/>
              </a:rPr>
              <a:t>One learner. Specialized agents. Persistent evidence.
A closed loop that adapts when the evidence changes.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8096" y="4590288"/>
            <a:ext cx="5358384" cy="87782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4773168"/>
            <a:ext cx="164592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70" b="1" i="0">
                <a:solidFill>
                  <a:srgbClr val="1C3E68"/>
                </a:solidFill>
                <a:latin typeface="Times New Roman"/>
              </a:rPr>
              <a:t>TEAM AGENT KHANS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24912" y="4718304"/>
            <a:ext cx="3090672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30" b="0" i="0">
                <a:solidFill>
                  <a:srgbClr val="2B323A"/>
                </a:solidFill>
                <a:latin typeface="Times New Roman"/>
              </a:rPr>
              <a:t>Shrine De Christiana JCR  •  Harshan S  •  Kavin R
Niruthiyan BJ  •  Kaushya Smirti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5852160"/>
            <a:ext cx="53949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90" b="0" i="0">
                <a:solidFill>
                  <a:srgbClr val="656E79"/>
                </a:solidFill>
                <a:latin typeface="Times New Roman"/>
              </a:rPr>
              <a:t>Multi-Agent Learning Systems / Agentic Personalized Education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51775" y="658368"/>
            <a:ext cx="4114800" cy="5449824"/>
          </a:xfrm>
          <a:prstGeom prst="roundRect">
            <a:avLst/>
          </a:prstGeom>
          <a:solidFill>
            <a:srgbClr val="1C3E68"/>
          </a:solidFill>
          <a:ln w="10160">
            <a:solidFill>
              <a:srgbClr val="1C3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82127" y="1536192"/>
            <a:ext cx="3072384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50" b="1" i="0">
                <a:solidFill>
                  <a:srgbClr val="FFFFFF"/>
                </a:solidFill>
                <a:latin typeface="Times New Roman"/>
              </a:rPr>
              <a:t>LEARN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07424" y="1975104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7" y="2487168"/>
            <a:ext cx="3072384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50" b="1" i="0">
                <a:solidFill>
                  <a:srgbClr val="FFFFFF"/>
                </a:solidFill>
                <a:latin typeface="Times New Roman"/>
              </a:rPr>
              <a:t>ADAPT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07424" y="2926080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2127" y="3438144"/>
            <a:ext cx="3072384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50" b="1" i="0">
                <a:solidFill>
                  <a:srgbClr val="FFFFFF"/>
                </a:solidFill>
                <a:latin typeface="Times New Roman"/>
              </a:rPr>
              <a:t>VERIFY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7424" y="3877056"/>
            <a:ext cx="62179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7" y="4389120"/>
            <a:ext cx="3072384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850" b="1" i="0">
                <a:solidFill>
                  <a:srgbClr val="FFFFFF"/>
                </a:solidFill>
                <a:latin typeface="Times New Roman"/>
              </a:rPr>
              <a:t>GROW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7" y="5212080"/>
            <a:ext cx="3072384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0" i="1">
                <a:solidFill>
                  <a:srgbClr val="DCE5EE"/>
                </a:solidFill>
                <a:latin typeface="Times New Roman"/>
              </a:rPr>
              <a:t>Evidence before assumption.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6455664"/>
            <a:ext cx="4133087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40" b="0" i="0">
                <a:solidFill>
                  <a:srgbClr val="656E79"/>
                </a:solidFill>
                <a:latin typeface="Times New Roman"/>
              </a:rPr>
              <a:t>20 September 2026   |   Team: AGENT KHANS   |   EDUNEXUS   |   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 w="10160">
            <a:solidFill>
              <a:srgbClr val="F7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92608"/>
            <a:ext cx="438912" cy="32004"/>
          </a:xfrm>
          <a:prstGeom prst="rect">
            <a:avLst/>
          </a:prstGeom>
          <a:solidFill>
            <a:srgbClr val="1C3E68"/>
          </a:solidFill>
          <a:ln w="10160">
            <a:solidFill>
              <a:srgbClr val="1C3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9768"/>
            <a:ext cx="10872215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500" b="1" i="0">
                <a:solidFill>
                  <a:srgbClr val="1C3E68"/>
                </a:solidFill>
                <a:latin typeface="Times New Roman"/>
              </a:rPr>
              <a:t>THE PROBLEM &amp; OUR PRINCIPLE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960120"/>
            <a:ext cx="10872216" cy="0"/>
          </a:xfrm>
          <a:prstGeom prst="line">
            <a:avLst/>
          </a:prstGeom>
          <a:ln w="12700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1060704"/>
            <a:ext cx="1083564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656E79"/>
                </a:solidFill>
                <a:latin typeface="Times New Roman"/>
              </a:rPr>
              <a:t>Why an adaptive tutor must understand the reason behind a wrong answer.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6455664"/>
            <a:ext cx="4133087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40" b="0" i="0">
                <a:solidFill>
                  <a:srgbClr val="656E79"/>
                </a:solidFill>
                <a:latin typeface="Times New Roman"/>
              </a:rPr>
              <a:t>20 September 2026   |   Team: AGENT KHANS   |   EDUNEXUS   |   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99616"/>
            <a:ext cx="4956048" cy="2121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99616"/>
            <a:ext cx="45720" cy="2121408"/>
          </a:xfrm>
          <a:prstGeom prst="rect">
            <a:avLst/>
          </a:prstGeom>
          <a:solidFill>
            <a:srgbClr val="5B8FB9"/>
          </a:solidFill>
          <a:ln w="10160">
            <a:solidFill>
              <a:srgbClr val="5B8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700784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40" b="1" i="0">
                <a:solidFill>
                  <a:srgbClr val="1C3E68"/>
                </a:solidFill>
                <a:latin typeface="Times New Roman"/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066543"/>
            <a:ext cx="4407408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50" b="0" i="0">
                <a:solidFill>
                  <a:srgbClr val="2B323A"/>
                </a:solidFill>
                <a:latin typeface="Times New Roman"/>
              </a:rPr>
              <a:t>Most learning tools react to the latest question instead of maintaining a continuous model of the learner. That creates three recurring failures: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" y="2615184"/>
            <a:ext cx="438912" cy="292608"/>
          </a:xfrm>
          <a:prstGeom prst="roundRect">
            <a:avLst/>
          </a:prstGeom>
          <a:solidFill>
            <a:srgbClr val="5B8FB9"/>
          </a:solidFill>
          <a:ln w="10160">
            <a:solidFill>
              <a:srgbClr val="5B8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665476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Times New Roman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2606040"/>
            <a:ext cx="144475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C3E68"/>
                </a:solidFill>
                <a:latin typeface="Times New Roman"/>
              </a:rPr>
              <a:t>CONTEXT RESETS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80944" y="2551176"/>
            <a:ext cx="22402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80" b="0" i="0">
                <a:solidFill>
                  <a:srgbClr val="2B323A"/>
                </a:solidFill>
                <a:latin typeface="Times New Roman"/>
              </a:rPr>
              <a:t>Assessment, explanation and planning happen in separate places, so earlier misconceptions are lost.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2688" y="2944368"/>
            <a:ext cx="438912" cy="292608"/>
          </a:xfrm>
          <a:prstGeom prst="roundRect">
            <a:avLst/>
          </a:prstGeom>
          <a:solidFill>
            <a:srgbClr val="BE9643"/>
          </a:solidFill>
          <a:ln w="10160">
            <a:solidFill>
              <a:srgbClr val="BE9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0976" y="2994660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Times New Roman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2935224"/>
            <a:ext cx="144475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C3E68"/>
                </a:solidFill>
                <a:latin typeface="Times New Roman"/>
              </a:rPr>
              <a:t>SCORES LACK MEANING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80944" y="2880360"/>
            <a:ext cx="22402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80" b="0" i="0">
                <a:solidFill>
                  <a:srgbClr val="2B323A"/>
                </a:solidFill>
                <a:latin typeface="Times New Roman"/>
              </a:rPr>
              <a:t>A wrong answer becomes a mark instead of evidence about the sub-concept that failed.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" y="3273551"/>
            <a:ext cx="438912" cy="292608"/>
          </a:xfrm>
          <a:prstGeom prst="roundRect">
            <a:avLst/>
          </a:prstGeom>
          <a:solidFill>
            <a:srgbClr val="AE574F"/>
          </a:solidFill>
          <a:ln w="10160">
            <a:solidFill>
              <a:srgbClr val="AE5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3323844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Times New Roman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36192" y="3264408"/>
            <a:ext cx="144475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1" i="0">
                <a:solidFill>
                  <a:srgbClr val="1C3E68"/>
                </a:solidFill>
                <a:latin typeface="Times New Roman"/>
              </a:rPr>
              <a:t>REMEDIATION IS UNVERIFIED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80944" y="3209544"/>
            <a:ext cx="22402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80" b="0" i="0">
                <a:solidFill>
                  <a:srgbClr val="2B323A"/>
                </a:solidFill>
                <a:latin typeface="Times New Roman"/>
              </a:rPr>
              <a:t>An explanation may be shown without checking whether the learner can now solve a different task.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33872" y="1499616"/>
            <a:ext cx="5696712" cy="21214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08192" y="1700784"/>
            <a:ext cx="20116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40" b="1" i="0">
                <a:solidFill>
                  <a:srgbClr val="1C3E68"/>
                </a:solidFill>
                <a:latin typeface="Times New Roman"/>
              </a:rPr>
              <a:t>OUR PRINCIPLE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08192" y="2267712"/>
            <a:ext cx="1618487" cy="292608"/>
          </a:xfrm>
          <a:prstGeom prst="roundRect">
            <a:avLst/>
          </a:prstGeom>
          <a:solidFill>
            <a:srgbClr val="5B8FB9"/>
          </a:solidFill>
          <a:ln w="10160">
            <a:solidFill>
              <a:srgbClr val="5B8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79" y="2318004"/>
            <a:ext cx="1581911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0" b="1" i="0">
                <a:solidFill>
                  <a:srgbClr val="FFFFFF"/>
                </a:solidFill>
                <a:latin typeface="Times New Roman"/>
              </a:rPr>
              <a:t>LEARNER FIRST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08192" y="2697480"/>
            <a:ext cx="1618487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90" b="0" i="0">
                <a:solidFill>
                  <a:srgbClr val="656E79"/>
                </a:solidFill>
                <a:latin typeface="Times New Roman"/>
              </a:rPr>
              <a:t>Use mastery, goals and prior history to personalize the next step.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872983" y="2267712"/>
            <a:ext cx="1618487" cy="292608"/>
          </a:xfrm>
          <a:prstGeom prst="roundRect">
            <a:avLst/>
          </a:prstGeom>
          <a:solidFill>
            <a:srgbClr val="BE9643"/>
          </a:solidFill>
          <a:ln w="10160">
            <a:solidFill>
              <a:srgbClr val="BE9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91271" y="2318004"/>
            <a:ext cx="1581911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0" b="1" i="0">
                <a:solidFill>
                  <a:srgbClr val="FFFFFF"/>
                </a:solidFill>
                <a:latin typeface="Times New Roman"/>
              </a:rPr>
              <a:t>EVIDENCE DRIVEN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72983" y="2697480"/>
            <a:ext cx="1618487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90" b="0" i="0">
                <a:solidFill>
                  <a:srgbClr val="656E79"/>
                </a:solidFill>
                <a:latin typeface="Times New Roman"/>
              </a:rPr>
              <a:t>Treat every response as evidence that can update learner state.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37776" y="2267712"/>
            <a:ext cx="1618487" cy="292608"/>
          </a:xfrm>
          <a:prstGeom prst="roundRect">
            <a:avLst/>
          </a:prstGeom>
          <a:solidFill>
            <a:srgbClr val="438969"/>
          </a:solidFill>
          <a:ln w="10160">
            <a:solidFill>
              <a:srgbClr val="438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56063" y="2318004"/>
            <a:ext cx="1581911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0" b="1" i="0">
                <a:solidFill>
                  <a:srgbClr val="FFFFFF"/>
                </a:solidFill>
                <a:latin typeface="Times New Roman"/>
              </a:rPr>
              <a:t>CONTINUOUSLY ADAPTIVE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37776" y="2697480"/>
            <a:ext cx="1618487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90" b="0" i="0">
                <a:solidFill>
                  <a:srgbClr val="656E79"/>
                </a:solidFill>
                <a:latin typeface="Times New Roman"/>
              </a:rPr>
              <a:t>Let new evidence change the next explanation, test or plan.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3803904"/>
            <a:ext cx="10872215" cy="1024128"/>
          </a:xfrm>
          <a:prstGeom prst="roundRect">
            <a:avLst/>
          </a:prstGeom>
          <a:solidFill>
            <a:srgbClr val="E4ECF4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" y="4023360"/>
            <a:ext cx="17830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50" b="1" i="0">
                <a:solidFill>
                  <a:srgbClr val="1C3E68"/>
                </a:solidFill>
                <a:latin typeface="Times New Roman"/>
              </a:rPr>
              <a:t>EDUNEXUS PRINCIPLE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54096" y="3913632"/>
            <a:ext cx="790956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420" b="1" i="0">
                <a:solidFill>
                  <a:srgbClr val="1C3E68"/>
                </a:solidFill>
                <a:latin typeface="Times New Roman"/>
              </a:rPr>
              <a:t>Detect the misconception → intervene precisely → verify with new evidence → update mastery.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041648" y="4398264"/>
            <a:ext cx="5925312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40" b="0" i="0">
                <a:solidFill>
                  <a:srgbClr val="656E79"/>
                </a:solidFill>
                <a:latin typeface="Times New Roman"/>
              </a:rPr>
              <a:t>The workflow moves forward only when the evidence justifies it.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138928"/>
            <a:ext cx="3441192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138928"/>
            <a:ext cx="45720" cy="841248"/>
          </a:xfrm>
          <a:prstGeom prst="rect">
            <a:avLst/>
          </a:prstGeom>
          <a:solidFill>
            <a:srgbClr val="5B8FB9"/>
          </a:solidFill>
          <a:ln w="10160">
            <a:solidFill>
              <a:srgbClr val="5B8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59" y="5257800"/>
            <a:ext cx="3112008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80" b="1" i="0">
                <a:solidFill>
                  <a:srgbClr val="1C3E68"/>
                </a:solidFill>
                <a:latin typeface="Times New Roman"/>
              </a:rPr>
              <a:t>FRAGMENTED CONTEXT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59" y="5532120"/>
            <a:ext cx="311200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90" b="0" i="0">
                <a:solidFill>
                  <a:srgbClr val="2B323A"/>
                </a:solidFill>
                <a:latin typeface="Times New Roman"/>
              </a:rPr>
              <a:t>Learner history and misconceptions disappear between interactions.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73880" y="5138928"/>
            <a:ext cx="3441192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373880" y="5138928"/>
            <a:ext cx="45720" cy="841248"/>
          </a:xfrm>
          <a:prstGeom prst="rect">
            <a:avLst/>
          </a:prstGeom>
          <a:solidFill>
            <a:srgbClr val="BE9643"/>
          </a:solidFill>
          <a:ln w="10160">
            <a:solidFill>
              <a:srgbClr val="BE9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38472" y="5257800"/>
            <a:ext cx="3112008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80" b="1" i="0">
                <a:solidFill>
                  <a:srgbClr val="1C3E68"/>
                </a:solidFill>
                <a:latin typeface="Times New Roman"/>
              </a:rPr>
              <a:t>STATIC REMEDIATION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38472" y="5532120"/>
            <a:ext cx="311200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90" b="0" i="0">
                <a:solidFill>
                  <a:srgbClr val="2B323A"/>
                </a:solidFill>
                <a:latin typeface="Times New Roman"/>
              </a:rPr>
              <a:t>The same explanation may be repeated even when it did not repair the gap.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089392" y="5138928"/>
            <a:ext cx="3441192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89392" y="5138928"/>
            <a:ext cx="45720" cy="841248"/>
          </a:xfrm>
          <a:prstGeom prst="rect">
            <a:avLst/>
          </a:prstGeom>
          <a:solidFill>
            <a:srgbClr val="438969"/>
          </a:solidFill>
          <a:ln w="10160">
            <a:solidFill>
              <a:srgbClr val="438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53984" y="5257800"/>
            <a:ext cx="3112008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80" b="1" i="0">
                <a:solidFill>
                  <a:srgbClr val="1C3E68"/>
                </a:solidFill>
                <a:latin typeface="Times New Roman"/>
              </a:rPr>
              <a:t>UNVERIFIED MASTERY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53984" y="5532120"/>
            <a:ext cx="3112008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90" b="0" i="0">
                <a:solidFill>
                  <a:srgbClr val="2B323A"/>
                </a:solidFill>
                <a:latin typeface="Times New Roman"/>
              </a:rPr>
              <a:t>Completion can be mistaken for understanding unless a new task verifies transfer.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 w="10160">
            <a:solidFill>
              <a:srgbClr val="F7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92608"/>
            <a:ext cx="438912" cy="32004"/>
          </a:xfrm>
          <a:prstGeom prst="rect">
            <a:avLst/>
          </a:prstGeom>
          <a:solidFill>
            <a:srgbClr val="1C3E68"/>
          </a:solidFill>
          <a:ln w="10160">
            <a:solidFill>
              <a:srgbClr val="1C3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9768"/>
            <a:ext cx="10872215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500" b="1" i="0">
                <a:solidFill>
                  <a:srgbClr val="1C3E68"/>
                </a:solidFill>
                <a:latin typeface="Times New Roman"/>
              </a:rPr>
              <a:t>WHAT WE BUILT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960120"/>
            <a:ext cx="10872216" cy="0"/>
          </a:xfrm>
          <a:prstGeom prst="line">
            <a:avLst/>
          </a:prstGeom>
          <a:ln w="12700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1060704"/>
            <a:ext cx="1083564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656E79"/>
                </a:solidFill>
                <a:latin typeface="Times New Roman"/>
              </a:rPr>
              <a:t>Five specialized roles coordinated around one persistent learner state.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6455664"/>
            <a:ext cx="4133087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40" b="0" i="0">
                <a:solidFill>
                  <a:srgbClr val="656E79"/>
                </a:solidFill>
                <a:latin typeface="Times New Roman"/>
              </a:rPr>
              <a:t>20 September 2026   |   Team: AGENT KHANS   |   EDUNEXUS   |   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2028139" cy="2816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1737360"/>
            <a:ext cx="1150315" cy="292608"/>
          </a:xfrm>
          <a:prstGeom prst="roundRect">
            <a:avLst/>
          </a:prstGeom>
          <a:solidFill>
            <a:srgbClr val="5B8FB9"/>
          </a:solidFill>
          <a:ln w="10160">
            <a:solidFill>
              <a:srgbClr val="5B8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1787651"/>
            <a:ext cx="1113739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Times New Roman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267712"/>
            <a:ext cx="1753819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70" b="1" i="0">
                <a:solidFill>
                  <a:srgbClr val="1C3E68"/>
                </a:solidFill>
                <a:latin typeface="Times New Roman"/>
              </a:rPr>
              <a:t>LEARNING STRATEGIST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880360"/>
            <a:ext cx="1772107" cy="1170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2B323A"/>
                </a:solidFill>
                <a:latin typeface="Times New Roman"/>
              </a:rPr>
              <a:t>Reads mastery, learner goals and deadlines.
Builds and reprioritizes the study plan.
Changes the plan when verified evidence changes.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69387" y="1554480"/>
            <a:ext cx="2028139" cy="2816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308299" y="1737360"/>
            <a:ext cx="1150315" cy="292608"/>
          </a:xfrm>
          <a:prstGeom prst="roundRect">
            <a:avLst/>
          </a:prstGeom>
          <a:solidFill>
            <a:srgbClr val="438969"/>
          </a:solidFill>
          <a:ln w="10160">
            <a:solidFill>
              <a:srgbClr val="438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26587" y="1787651"/>
            <a:ext cx="1113739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Times New Roman"/>
              </a:rPr>
              <a:t>SCHEDULE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06547" y="2267712"/>
            <a:ext cx="1753819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70" b="1" i="0">
                <a:solidFill>
                  <a:srgbClr val="1C3E68"/>
                </a:solidFill>
                <a:latin typeface="Times New Roman"/>
              </a:rPr>
              <a:t>SCHEDULE INTELLIGENCE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7403" y="2880360"/>
            <a:ext cx="1772107" cy="1170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2B323A"/>
                </a:solidFill>
                <a:latin typeface="Times New Roman"/>
              </a:rPr>
              <a:t>Reads classes, travel and blocked periods.
Finds realistic study windows.
Checks feasibility before learning tasks are placed.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0406" y="1554480"/>
            <a:ext cx="2028139" cy="2816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519318" y="1737360"/>
            <a:ext cx="1150315" cy="292608"/>
          </a:xfrm>
          <a:prstGeom prst="roundRect">
            <a:avLst/>
          </a:prstGeom>
          <a:solidFill>
            <a:srgbClr val="BE9643"/>
          </a:solidFill>
          <a:ln w="10160">
            <a:solidFill>
              <a:srgbClr val="BE9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7606" y="1787651"/>
            <a:ext cx="1113739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Times New Roman"/>
              </a:rPr>
              <a:t>ASSESS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7566" y="2267712"/>
            <a:ext cx="1753819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70" b="1" i="0">
                <a:solidFill>
                  <a:srgbClr val="1C3E68"/>
                </a:solidFill>
                <a:latin typeface="Times New Roman"/>
              </a:rPr>
              <a:t>ASSESSMENT &amp; ACCOUNTABILITY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08422" y="2880360"/>
            <a:ext cx="1772107" cy="1170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2B323A"/>
                </a:solidFill>
                <a:latin typeface="Times New Roman"/>
              </a:rPr>
              <a:t>Generates adaptive questions.
Scores evidence by sub-concept.
Writes strengths, gaps and misconceptions to learner state.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1425" y="1554480"/>
            <a:ext cx="2028139" cy="2816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730337" y="1737360"/>
            <a:ext cx="1150315" cy="292608"/>
          </a:xfrm>
          <a:prstGeom prst="roundRect">
            <a:avLst/>
          </a:prstGeom>
          <a:solidFill>
            <a:srgbClr val="5B8FB9"/>
          </a:solidFill>
          <a:ln w="10160">
            <a:solidFill>
              <a:srgbClr val="5B8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48625" y="1787651"/>
            <a:ext cx="1113739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Times New Roman"/>
              </a:rPr>
              <a:t>GUIDE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8585" y="2267712"/>
            <a:ext cx="1753819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70" b="1" i="0">
                <a:solidFill>
                  <a:srgbClr val="1C3E68"/>
                </a:solidFill>
                <a:latin typeface="Times New Roman"/>
              </a:rPr>
              <a:t>KNOWLEDGE COMPANION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19441" y="2880360"/>
            <a:ext cx="1772107" cy="1170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2B323A"/>
                </a:solidFill>
                <a:latin typeface="Times New Roman"/>
              </a:rPr>
              <a:t>Retrieves learner history and relevant source material.
Explains the diagnosed misconception.
Keeps support contextual rather than generic.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02444" y="1554480"/>
            <a:ext cx="2028139" cy="2816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941356" y="1737360"/>
            <a:ext cx="1150315" cy="292608"/>
          </a:xfrm>
          <a:prstGeom prst="roundRect">
            <a:avLst/>
          </a:prstGeom>
          <a:solidFill>
            <a:srgbClr val="438969"/>
          </a:solidFill>
          <a:ln w="10160">
            <a:solidFill>
              <a:srgbClr val="438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59644" y="1787651"/>
            <a:ext cx="1113739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Times New Roman"/>
              </a:rPr>
              <a:t>GROW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9604" y="2267712"/>
            <a:ext cx="1753819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70" b="1" i="0">
                <a:solidFill>
                  <a:srgbClr val="1C3E68"/>
                </a:solidFill>
                <a:latin typeface="Times New Roman"/>
              </a:rPr>
              <a:t>CAREER &amp; OPPORTUNITY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30460" y="2880360"/>
            <a:ext cx="1772107" cy="11704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00" b="0" i="0">
                <a:solidFill>
                  <a:srgbClr val="2B323A"/>
                </a:solidFill>
                <a:latin typeface="Times New Roman"/>
              </a:rPr>
              <a:t>Uses verified skills, interests and readiness.
Maps learners to projects, courses and roles.
Keeps growth aligned with capability and time.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4572000"/>
            <a:ext cx="10872215" cy="566928"/>
          </a:xfrm>
          <a:prstGeom prst="roundRect">
            <a:avLst/>
          </a:prstGeom>
          <a:solidFill>
            <a:srgbClr val="E4ECF4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2688" y="4718304"/>
            <a:ext cx="10323576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60" b="1" i="0">
                <a:solidFill>
                  <a:srgbClr val="1C3E68"/>
                </a:solidFill>
                <a:latin typeface="Times New Roman"/>
              </a:rPr>
              <a:t>SHARED FOUNDATION: PERSISTENT LEARNER STATE  +  CENTRAL ORCHESTRATION  +  SOURCE-GROUNDED CONTEXT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5431536"/>
            <a:ext cx="182880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19" b="1" i="0">
                <a:solidFill>
                  <a:srgbClr val="BE9643"/>
                </a:solidFill>
                <a:latin typeface="Times New Roman"/>
              </a:rPr>
              <a:t>DEMO-CRITICAL LOOP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852928" y="5358384"/>
            <a:ext cx="1408176" cy="292608"/>
          </a:xfrm>
          <a:prstGeom prst="roundRect">
            <a:avLst/>
          </a:prstGeom>
          <a:solidFill>
            <a:srgbClr val="5B8FB9"/>
          </a:solidFill>
          <a:ln w="10160">
            <a:solidFill>
              <a:srgbClr val="5B8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71216" y="540867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Times New Roman"/>
              </a:rPr>
              <a:t>ASSESS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288536" y="5504688"/>
            <a:ext cx="329184" cy="0"/>
          </a:xfrm>
          <a:prstGeom prst="line">
            <a:avLst/>
          </a:prstGeom>
          <a:ln w="20320">
            <a:solidFill>
              <a:srgbClr val="1C3E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4645152" y="5358384"/>
            <a:ext cx="1408176" cy="292608"/>
          </a:xfrm>
          <a:prstGeom prst="roundRect">
            <a:avLst/>
          </a:prstGeom>
          <a:solidFill>
            <a:srgbClr val="BE9643"/>
          </a:solidFill>
          <a:ln w="10160">
            <a:solidFill>
              <a:srgbClr val="BE9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63440" y="540867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Times New Roman"/>
              </a:rPr>
              <a:t>DIAGNOSE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080760" y="5504688"/>
            <a:ext cx="329184" cy="0"/>
          </a:xfrm>
          <a:prstGeom prst="line">
            <a:avLst/>
          </a:prstGeom>
          <a:ln w="20320">
            <a:solidFill>
              <a:srgbClr val="1C3E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437376" y="5358384"/>
            <a:ext cx="1408176" cy="292608"/>
          </a:xfrm>
          <a:prstGeom prst="roundRect">
            <a:avLst/>
          </a:prstGeom>
          <a:solidFill>
            <a:srgbClr val="AE574F"/>
          </a:solidFill>
          <a:ln w="10160">
            <a:solidFill>
              <a:srgbClr val="AE5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55664" y="540867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Times New Roman"/>
              </a:rPr>
              <a:t>REMEDIATE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872983" y="5504688"/>
            <a:ext cx="329185" cy="0"/>
          </a:xfrm>
          <a:prstGeom prst="line">
            <a:avLst/>
          </a:prstGeom>
          <a:ln w="20320">
            <a:solidFill>
              <a:srgbClr val="1C3E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8229600" y="5358384"/>
            <a:ext cx="1408176" cy="292608"/>
          </a:xfrm>
          <a:prstGeom prst="roundRect">
            <a:avLst/>
          </a:prstGeom>
          <a:solidFill>
            <a:srgbClr val="438969"/>
          </a:solidFill>
          <a:ln w="10160">
            <a:solidFill>
              <a:srgbClr val="438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47888" y="540867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Times New Roman"/>
              </a:rPr>
              <a:t>VERIFY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75104" y="5907024"/>
            <a:ext cx="822960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0" i="0">
                <a:solidFill>
                  <a:srgbClr val="656E79"/>
                </a:solidFill>
                <a:latin typeface="Times New Roman"/>
              </a:rPr>
              <a:t>Failed verification routes the learner backward with the misconception and prior intervention preserved.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 w="10160">
            <a:solidFill>
              <a:srgbClr val="F7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92608"/>
            <a:ext cx="438912" cy="32004"/>
          </a:xfrm>
          <a:prstGeom prst="rect">
            <a:avLst/>
          </a:prstGeom>
          <a:solidFill>
            <a:srgbClr val="1C3E68"/>
          </a:solidFill>
          <a:ln w="10160">
            <a:solidFill>
              <a:srgbClr val="1C3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9768"/>
            <a:ext cx="10872215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500" b="1" i="0">
                <a:solidFill>
                  <a:srgbClr val="1C3E68"/>
                </a:solidFill>
                <a:latin typeface="Times New Roman"/>
              </a:rPr>
              <a:t>SYSTEM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960120"/>
            <a:ext cx="10872215" cy="10972"/>
          </a:xfrm>
          <a:prstGeom prst="rect">
            <a:avLst/>
          </a:prstGeom>
          <a:solidFill>
            <a:srgbClr val="D7D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1060704"/>
            <a:ext cx="1083564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656E79"/>
                </a:solidFill>
                <a:latin typeface="Times New Roman"/>
              </a:rPr>
              <a:t>React.js frontend with explicit orchestration, persistent learner state and source grounding.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6455664"/>
            <a:ext cx="4133087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40" b="0" i="0">
                <a:solidFill>
                  <a:srgbClr val="656E79"/>
                </a:solidFill>
                <a:latin typeface="Times New Roman"/>
              </a:rPr>
              <a:t>20 September 2026   |   Team: AGENT KHANS   |   EDUNEXUS   |   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17904"/>
            <a:ext cx="1572768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B8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591056"/>
            <a:ext cx="1481328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C3E68"/>
                </a:solidFill>
                <a:latin typeface="Times New Roman"/>
              </a:rPr>
              <a:t>REACT.JS
FRONTEND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16352" y="1517904"/>
            <a:ext cx="192024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C3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62072" y="1591056"/>
            <a:ext cx="1828800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C3E68"/>
                </a:solidFill>
                <a:latin typeface="Times New Roman"/>
              </a:rPr>
              <a:t>AGENT ORCHESTRATOR
LANGGRAPH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58384" y="1517904"/>
            <a:ext cx="162763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9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04104" y="1591056"/>
            <a:ext cx="1536192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C3E68"/>
                </a:solidFill>
                <a:latin typeface="Times New Roman"/>
              </a:rPr>
              <a:t>SPECIALIZED
AGENTS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71231" y="1517904"/>
            <a:ext cx="1883664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B8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16952" y="1591056"/>
            <a:ext cx="1792224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C3E68"/>
                </a:solidFill>
                <a:latin typeface="Times New Roman"/>
              </a:rPr>
              <a:t>PERSISTENT
LEARNER STATE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13264" y="1517904"/>
            <a:ext cx="1353312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38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58984" y="1591056"/>
            <a:ext cx="1261872" cy="5669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00" b="1" i="0">
                <a:solidFill>
                  <a:srgbClr val="1C3E68"/>
                </a:solidFill>
                <a:latin typeface="Times New Roman"/>
              </a:rPr>
              <a:t>ADAPTIVE
OUTPUT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304288" y="1746504"/>
            <a:ext cx="365760" cy="182880"/>
          </a:xfrm>
          <a:prstGeom prst="rightArrow">
            <a:avLst/>
          </a:prstGeom>
          <a:solidFill>
            <a:srgbClr val="1C3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4864608" y="1746504"/>
            <a:ext cx="365760" cy="182880"/>
          </a:xfrm>
          <a:prstGeom prst="rightArrow">
            <a:avLst/>
          </a:prstGeom>
          <a:solidFill>
            <a:srgbClr val="1C3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7114032" y="1746504"/>
            <a:ext cx="365760" cy="182880"/>
          </a:xfrm>
          <a:prstGeom prst="rightArrow">
            <a:avLst/>
          </a:prstGeom>
          <a:solidFill>
            <a:srgbClr val="1C3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9582912" y="1746504"/>
            <a:ext cx="365760" cy="182880"/>
          </a:xfrm>
          <a:prstGeom prst="rightArrow">
            <a:avLst/>
          </a:prstGeom>
          <a:solidFill>
            <a:srgbClr val="1C3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6025896" y="2267712"/>
            <a:ext cx="228600" cy="310896"/>
          </a:xfrm>
          <a:prstGeom prst="downArrow">
            <a:avLst/>
          </a:prstGeom>
          <a:solidFill>
            <a:srgbClr val="1C3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68" y="2615184"/>
            <a:ext cx="10808208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2798064"/>
            <a:ext cx="13716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C3E68"/>
                </a:solidFill>
                <a:latin typeface="Times New Roman"/>
              </a:rPr>
              <a:t>AGENT LAYER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40864" y="2898648"/>
            <a:ext cx="1298448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B8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86584" y="2971800"/>
            <a:ext cx="1207007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19" b="1" i="0">
                <a:solidFill>
                  <a:srgbClr val="1C3E68"/>
                </a:solidFill>
                <a:latin typeface="Times New Roman"/>
              </a:rPr>
              <a:t>DIAGNOSTIC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813048" y="2898648"/>
            <a:ext cx="1298448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438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58768" y="2971800"/>
            <a:ext cx="1207007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19" b="1" i="0">
                <a:solidFill>
                  <a:srgbClr val="1C3E68"/>
                </a:solidFill>
                <a:latin typeface="Times New Roman"/>
              </a:rPr>
              <a:t>DIAGNOSIS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285232" y="2898648"/>
            <a:ext cx="1298448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9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30952" y="2971800"/>
            <a:ext cx="1207007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19" b="1" i="0">
                <a:solidFill>
                  <a:srgbClr val="1C3E68"/>
                </a:solidFill>
                <a:latin typeface="Times New Roman"/>
              </a:rPr>
              <a:t>REMEDIATION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57416" y="2898648"/>
            <a:ext cx="1298448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5B8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03136" y="2971800"/>
            <a:ext cx="1207007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19" b="1" i="0">
                <a:solidFill>
                  <a:srgbClr val="1C3E68"/>
                </a:solidFill>
                <a:latin typeface="Times New Roman"/>
              </a:rPr>
              <a:t>VERIFICATION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2898648"/>
            <a:ext cx="1783080" cy="457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C3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2971800"/>
            <a:ext cx="1691639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19" b="1" i="0">
                <a:solidFill>
                  <a:srgbClr val="1C3E68"/>
                </a:solidFill>
                <a:latin typeface="Times New Roman"/>
              </a:rPr>
              <a:t>ADAPTIVE STRATEGY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3657600" y="3044952"/>
            <a:ext cx="128016" cy="109728"/>
          </a:xfrm>
          <a:prstGeom prst="rightArrow">
            <a:avLst/>
          </a:prstGeom>
          <a:solidFill>
            <a:srgbClr val="1C3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ight Arrow 35"/>
          <p:cNvSpPr/>
          <p:nvPr/>
        </p:nvSpPr>
        <p:spPr>
          <a:xfrm>
            <a:off x="5129784" y="3044952"/>
            <a:ext cx="128016" cy="109728"/>
          </a:xfrm>
          <a:prstGeom prst="rightArrow">
            <a:avLst/>
          </a:prstGeom>
          <a:solidFill>
            <a:srgbClr val="1C3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ight Arrow 36"/>
          <p:cNvSpPr/>
          <p:nvPr/>
        </p:nvSpPr>
        <p:spPr>
          <a:xfrm>
            <a:off x="6601968" y="3044952"/>
            <a:ext cx="128016" cy="109728"/>
          </a:xfrm>
          <a:prstGeom prst="rightArrow">
            <a:avLst/>
          </a:prstGeom>
          <a:solidFill>
            <a:srgbClr val="1C3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ight Arrow 37"/>
          <p:cNvSpPr/>
          <p:nvPr/>
        </p:nvSpPr>
        <p:spPr>
          <a:xfrm>
            <a:off x="8074152" y="3044952"/>
            <a:ext cx="128016" cy="109728"/>
          </a:xfrm>
          <a:prstGeom prst="rightArrow">
            <a:avLst/>
          </a:prstGeom>
          <a:solidFill>
            <a:srgbClr val="1C3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58368" y="4315968"/>
            <a:ext cx="5230368" cy="113385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144768" y="4315968"/>
            <a:ext cx="5321808" cy="1133856"/>
          </a:xfrm>
          <a:prstGeom prst="roundRect">
            <a:avLst/>
          </a:prstGeom>
          <a:solidFill>
            <a:srgbClr val="E4ECF4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2688" y="4507992"/>
            <a:ext cx="24688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C3E68"/>
                </a:solidFill>
                <a:latin typeface="Times New Roman"/>
              </a:rPr>
              <a:t>PERSISTENT LEARNER STATE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" y="4882896"/>
            <a:ext cx="452628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B323A"/>
                </a:solidFill>
                <a:latin typeface="Times New Roman"/>
              </a:rPr>
              <a:t>Mastery evidence • misconceptions • attempts
interventions • verification history • learning events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19088" y="4507992"/>
            <a:ext cx="219456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00" b="1" i="0">
                <a:solidFill>
                  <a:srgbClr val="1C3E68"/>
                </a:solidFill>
                <a:latin typeface="Times New Roman"/>
              </a:rPr>
              <a:t>SOURCE GROUNDING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9088" y="4882896"/>
            <a:ext cx="448056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B323A"/>
                </a:solidFill>
                <a:latin typeface="Times New Roman"/>
              </a:rPr>
              <a:t>PDF / notes → chunks → embeddings → FAISS retrieval
Top-k context is supplied only when relevant to the current agent task.</a:t>
            </a:r>
          </a:p>
        </p:txBody>
      </p:sp>
      <p:sp>
        <p:nvSpPr>
          <p:cNvPr id="45" name="Up Arrow 44"/>
          <p:cNvSpPr/>
          <p:nvPr/>
        </p:nvSpPr>
        <p:spPr>
          <a:xfrm>
            <a:off x="3767328" y="3931920"/>
            <a:ext cx="201168" cy="274320"/>
          </a:xfrm>
          <a:prstGeom prst="upArrow">
            <a:avLst/>
          </a:prstGeom>
          <a:solidFill>
            <a:srgbClr val="1C3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Down Arrow 45"/>
          <p:cNvSpPr/>
          <p:nvPr/>
        </p:nvSpPr>
        <p:spPr>
          <a:xfrm>
            <a:off x="4681728" y="3931920"/>
            <a:ext cx="201168" cy="274320"/>
          </a:xfrm>
          <a:prstGeom prst="downArrow">
            <a:avLst/>
          </a:prstGeom>
          <a:solidFill>
            <a:srgbClr val="4389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64408" y="3776472"/>
            <a:ext cx="117043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60" b="1" i="0">
                <a:solidFill>
                  <a:srgbClr val="1C3E68"/>
                </a:solidFill>
                <a:latin typeface="Times New Roman"/>
              </a:rPr>
              <a:t>READ STATE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78808" y="3776472"/>
            <a:ext cx="12801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i="0">
                <a:solidFill>
                  <a:srgbClr val="438969"/>
                </a:solidFill>
                <a:latin typeface="Times New Roman"/>
              </a:rPr>
              <a:t>WRITE EVIDENCE</a:t>
            </a:r>
          </a:p>
        </p:txBody>
      </p:sp>
      <p:sp>
        <p:nvSpPr>
          <p:cNvPr id="49" name="Up Arrow 48"/>
          <p:cNvSpPr/>
          <p:nvPr/>
        </p:nvSpPr>
        <p:spPr>
          <a:xfrm>
            <a:off x="8705088" y="3931920"/>
            <a:ext cx="201168" cy="274320"/>
          </a:xfrm>
          <a:prstGeom prst="upArrow">
            <a:avLst/>
          </a:prstGeom>
          <a:solidFill>
            <a:srgbClr val="1C3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27848" y="3776472"/>
            <a:ext cx="1719072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40" b="1" i="0">
                <a:solidFill>
                  <a:srgbClr val="1C3E68"/>
                </a:solidFill>
                <a:latin typeface="Times New Roman"/>
              </a:rPr>
              <a:t>RETRIEVE CONTEXT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389888" y="5669280"/>
            <a:ext cx="9418320" cy="438912"/>
          </a:xfrm>
          <a:prstGeom prst="roundRect">
            <a:avLst/>
          </a:prstGeom>
          <a:solidFill>
            <a:srgbClr val="1C3E68"/>
          </a:solidFill>
          <a:ln w="10160">
            <a:solidFill>
              <a:srgbClr val="1C3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609344" y="5760720"/>
            <a:ext cx="897940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60" b="1" i="0">
                <a:solidFill>
                  <a:srgbClr val="FFFFFF"/>
                </a:solidFill>
                <a:latin typeface="Times New Roman"/>
              </a:rPr>
              <a:t>READ STATE  →  RETRIEVE SOURCE  →  ACT  →  WRITE EVIDENCE  →  ROUTE NEXT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 w="10160">
            <a:solidFill>
              <a:srgbClr val="F7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92608"/>
            <a:ext cx="438912" cy="32004"/>
          </a:xfrm>
          <a:prstGeom prst="rect">
            <a:avLst/>
          </a:prstGeom>
          <a:solidFill>
            <a:srgbClr val="1C3E68"/>
          </a:solidFill>
          <a:ln w="10160">
            <a:solidFill>
              <a:srgbClr val="1C3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9768"/>
            <a:ext cx="10872215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500" b="1" i="0">
                <a:solidFill>
                  <a:srgbClr val="1C3E68"/>
                </a:solidFill>
                <a:latin typeface="Times New Roman"/>
              </a:rPr>
              <a:t>HOW EDUNEXUS IDENTIFIES AND ADDRESSES GAPS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960120"/>
            <a:ext cx="10872216" cy="0"/>
          </a:xfrm>
          <a:prstGeom prst="line">
            <a:avLst/>
          </a:prstGeom>
          <a:ln w="12700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1060704"/>
            <a:ext cx="1083564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656E79"/>
                </a:solidFill>
                <a:latin typeface="Times New Roman"/>
              </a:rPr>
              <a:t>From assessment to mastery — a closed loop with an explicit backward transition.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6455664"/>
            <a:ext cx="4133087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40" b="0" i="0">
                <a:solidFill>
                  <a:srgbClr val="656E79"/>
                </a:solidFill>
                <a:latin typeface="Times New Roman"/>
              </a:rPr>
              <a:t>20 September 2026   |   Team: AGENT KHANS   |   EDUNEXUS   |   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54480"/>
            <a:ext cx="1993392" cy="1618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6968" y="1792224"/>
            <a:ext cx="1536192" cy="292608"/>
          </a:xfrm>
          <a:prstGeom prst="roundRect">
            <a:avLst/>
          </a:prstGeom>
          <a:solidFill>
            <a:srgbClr val="5B8FB9"/>
          </a:solidFill>
          <a:ln w="10160">
            <a:solidFill>
              <a:srgbClr val="5B8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1842516"/>
            <a:ext cx="149961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Times New Roman"/>
              </a:rPr>
              <a:t>1. DIAGNOSTIC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40864"/>
            <a:ext cx="1700784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10" b="0" i="0">
                <a:solidFill>
                  <a:srgbClr val="2B323A"/>
                </a:solidFill>
                <a:latin typeface="Times New Roman"/>
              </a:rPr>
              <a:t>Adaptive questions reveal the learner’s current understanding.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70048" y="2368296"/>
            <a:ext cx="146304" cy="0"/>
          </a:xfrm>
          <a:prstGeom prst="line">
            <a:avLst/>
          </a:prstGeom>
          <a:ln w="22860">
            <a:solidFill>
              <a:srgbClr val="1C3E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34640" y="1554480"/>
            <a:ext cx="1993392" cy="1618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63240" y="1792224"/>
            <a:ext cx="1536192" cy="292608"/>
          </a:xfrm>
          <a:prstGeom prst="roundRect">
            <a:avLst/>
          </a:prstGeom>
          <a:solidFill>
            <a:srgbClr val="438969"/>
          </a:solidFill>
          <a:ln w="10160">
            <a:solidFill>
              <a:srgbClr val="438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1528" y="1842516"/>
            <a:ext cx="149961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Times New Roman"/>
              </a:rPr>
              <a:t>2. ANALYSE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80944" y="2340864"/>
            <a:ext cx="1700784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10" b="0" i="0">
                <a:solidFill>
                  <a:srgbClr val="2B323A"/>
                </a:solidFill>
                <a:latin typeface="Times New Roman"/>
              </a:rPr>
              <a:t>Responses are grouped by sub-concept and scored as evidence.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846320" y="2368296"/>
            <a:ext cx="146304" cy="0"/>
          </a:xfrm>
          <a:prstGeom prst="line">
            <a:avLst/>
          </a:prstGeom>
          <a:ln w="22860">
            <a:solidFill>
              <a:srgbClr val="1C3E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010912" y="1554480"/>
            <a:ext cx="1993392" cy="1618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39512" y="1792224"/>
            <a:ext cx="1536192" cy="292608"/>
          </a:xfrm>
          <a:prstGeom prst="roundRect">
            <a:avLst/>
          </a:prstGeom>
          <a:solidFill>
            <a:srgbClr val="BE9643"/>
          </a:solidFill>
          <a:ln w="10160">
            <a:solidFill>
              <a:srgbClr val="BE9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1842516"/>
            <a:ext cx="149961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Times New Roman"/>
              </a:rPr>
              <a:t>3. REMEDIATE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57216" y="2340864"/>
            <a:ext cx="1700784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10" b="0" i="0">
                <a:solidFill>
                  <a:srgbClr val="2B323A"/>
                </a:solidFill>
                <a:latin typeface="Times New Roman"/>
              </a:rPr>
              <a:t>The tutor targets the diagnosed misconception, not the whole topic.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22592" y="2368296"/>
            <a:ext cx="146304" cy="0"/>
          </a:xfrm>
          <a:prstGeom prst="line">
            <a:avLst/>
          </a:prstGeom>
          <a:ln w="22860">
            <a:solidFill>
              <a:srgbClr val="1C3E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187184" y="1554480"/>
            <a:ext cx="1993392" cy="1618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15784" y="1792224"/>
            <a:ext cx="1536192" cy="292608"/>
          </a:xfrm>
          <a:prstGeom prst="roundRect">
            <a:avLst/>
          </a:prstGeom>
          <a:solidFill>
            <a:srgbClr val="5B8FB9"/>
          </a:solidFill>
          <a:ln w="10160">
            <a:solidFill>
              <a:srgbClr val="5B8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34072" y="1842516"/>
            <a:ext cx="149961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Times New Roman"/>
              </a:rPr>
              <a:t>4. 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33488" y="2340864"/>
            <a:ext cx="1700784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10" b="0" i="0">
                <a:solidFill>
                  <a:srgbClr val="2B323A"/>
                </a:solidFill>
                <a:latin typeface="Times New Roman"/>
              </a:rPr>
              <a:t>A new question checks whether understanding transfers.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198864" y="2368296"/>
            <a:ext cx="146304" cy="0"/>
          </a:xfrm>
          <a:prstGeom prst="line">
            <a:avLst/>
          </a:prstGeom>
          <a:ln w="22860">
            <a:solidFill>
              <a:srgbClr val="1C3E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363456" y="1554480"/>
            <a:ext cx="1993392" cy="16184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592056" y="1792224"/>
            <a:ext cx="1536192" cy="292608"/>
          </a:xfrm>
          <a:prstGeom prst="roundRect">
            <a:avLst/>
          </a:prstGeom>
          <a:solidFill>
            <a:srgbClr val="1C3E68"/>
          </a:solidFill>
          <a:ln w="10160">
            <a:solidFill>
              <a:srgbClr val="1C3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10344" y="1842516"/>
            <a:ext cx="1499616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19" b="1" i="0">
                <a:solidFill>
                  <a:srgbClr val="FFFFFF"/>
                </a:solidFill>
                <a:latin typeface="Times New Roman"/>
              </a:rPr>
              <a:t>5. ADAPT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9760" y="2340864"/>
            <a:ext cx="1700784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10" b="0" i="0">
                <a:solidFill>
                  <a:srgbClr val="2B323A"/>
                </a:solidFill>
                <a:latin typeface="Times New Roman"/>
              </a:rPr>
              <a:t>Failure changes the next strategy; success can update mastery.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360152" y="3172968"/>
            <a:ext cx="0" cy="374904"/>
          </a:xfrm>
          <a:prstGeom prst="line">
            <a:avLst/>
          </a:prstGeom>
          <a:ln w="24130">
            <a:solidFill>
              <a:srgbClr val="AE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6007608" y="3547872"/>
            <a:ext cx="4352544" cy="0"/>
          </a:xfrm>
          <a:prstGeom prst="line">
            <a:avLst/>
          </a:prstGeom>
          <a:ln w="24130">
            <a:solidFill>
              <a:srgbClr val="AE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007608" y="3172968"/>
            <a:ext cx="0" cy="374904"/>
          </a:xfrm>
          <a:prstGeom prst="line">
            <a:avLst/>
          </a:prstGeom>
          <a:ln w="24130">
            <a:solidFill>
              <a:srgbClr val="AE57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611880" y="3657600"/>
            <a:ext cx="4937760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60" b="1" i="0">
                <a:solidFill>
                  <a:srgbClr val="AE574F"/>
                </a:solidFill>
                <a:latin typeface="Times New Roman"/>
              </a:rPr>
              <a:t>FAILED VERIFICATION  →  NEW STRATEGY  →  REMEDIATION AGAIN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217920" y="4224528"/>
            <a:ext cx="5312664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92240" y="4407408"/>
            <a:ext cx="283464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20" b="1" i="0">
                <a:solidFill>
                  <a:srgbClr val="1C3E68"/>
                </a:solidFill>
                <a:latin typeface="Times New Roman"/>
              </a:rPr>
              <a:t>MISCONCEPTION EVIDENCE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492240" y="4828032"/>
            <a:ext cx="1298448" cy="292608"/>
          </a:xfrm>
          <a:prstGeom prst="roundRect">
            <a:avLst/>
          </a:prstGeom>
          <a:solidFill>
            <a:srgbClr val="E4ECF4"/>
          </a:solidFill>
          <a:ln w="10160">
            <a:solidFill>
              <a:srgbClr val="E4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19672" y="4878324"/>
            <a:ext cx="124358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1" i="0">
                <a:solidFill>
                  <a:srgbClr val="1C3E68"/>
                </a:solidFill>
                <a:latin typeface="Times New Roman"/>
              </a:rPr>
              <a:t>DETECTED PATTERN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936992" y="4828032"/>
            <a:ext cx="3300983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69" b="0" i="0">
                <a:solidFill>
                  <a:srgbClr val="2B323A"/>
                </a:solidFill>
                <a:latin typeface="Times New Roman"/>
              </a:rPr>
              <a:t>Stop index treated as inclusive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92240" y="5212080"/>
            <a:ext cx="1298448" cy="292608"/>
          </a:xfrm>
          <a:prstGeom prst="roundRect">
            <a:avLst/>
          </a:prstGeom>
          <a:solidFill>
            <a:srgbClr val="E4ECF4"/>
          </a:solidFill>
          <a:ln w="10160">
            <a:solidFill>
              <a:srgbClr val="E4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19672" y="5262372"/>
            <a:ext cx="124358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80" b="1" i="0">
                <a:solidFill>
                  <a:srgbClr val="1C3E68"/>
                </a:solidFill>
                <a:latin typeface="Times New Roman"/>
              </a:rPr>
              <a:t>REMEDIATION CYCLES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936992" y="5184648"/>
            <a:ext cx="3300983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B323A"/>
                </a:solidFill>
                <a:latin typeface="Times New Roman"/>
              </a:rPr>
              <a:t>2 completed; next verification determines mastery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42032" y="6007608"/>
            <a:ext cx="7114032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10" b="1" i="0">
                <a:solidFill>
                  <a:srgbClr val="BE9643"/>
                </a:solidFill>
                <a:latin typeface="Times New Roman"/>
              </a:rPr>
              <a:t>Mastery changes only after a different verification task provides new evidence.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58368" y="4224528"/>
            <a:ext cx="5358384" cy="15727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2688" y="4389120"/>
            <a:ext cx="292608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20" b="1" i="0">
                <a:solidFill>
                  <a:srgbClr val="1C3E68"/>
                </a:solidFill>
                <a:latin typeface="Times New Roman"/>
              </a:rPr>
              <a:t>ILLUSTRATIVE LEARNER STATE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32688" y="4773168"/>
            <a:ext cx="2423160" cy="219456"/>
          </a:xfrm>
          <a:prstGeom prst="rect">
            <a:avLst/>
          </a:prstGeom>
          <a:solidFill>
            <a:srgbClr val="E4ECF4"/>
          </a:solidFill>
          <a:ln w="10160">
            <a:solidFill>
              <a:srgbClr val="E4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3355848" y="4773168"/>
            <a:ext cx="2386584" cy="219456"/>
          </a:xfrm>
          <a:prstGeom prst="rect">
            <a:avLst/>
          </a:prstGeom>
          <a:solidFill>
            <a:srgbClr val="E4ECF4"/>
          </a:solidFill>
          <a:ln w="10160">
            <a:solidFill>
              <a:srgbClr val="E4EC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96696" y="4800600"/>
            <a:ext cx="2295144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1" i="0">
                <a:solidFill>
                  <a:srgbClr val="1C3E68"/>
                </a:solidFill>
                <a:latin typeface="Times New Roman"/>
              </a:rPr>
              <a:t>SUB-CONCEPT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19856" y="4800600"/>
            <a:ext cx="2258568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0" b="1" i="0">
                <a:solidFill>
                  <a:srgbClr val="1C3E68"/>
                </a:solidFill>
                <a:latin typeface="Times New Roman"/>
              </a:rPr>
              <a:t>STATE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32688" y="5010912"/>
            <a:ext cx="4809744" cy="16459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96696" y="5020055"/>
            <a:ext cx="229514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0" i="0">
                <a:solidFill>
                  <a:srgbClr val="2B323A"/>
                </a:solidFill>
                <a:latin typeface="Times New Roman"/>
              </a:rPr>
              <a:t>Indexing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19856" y="5020055"/>
            <a:ext cx="2258568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1" i="0">
                <a:solidFill>
                  <a:srgbClr val="438969"/>
                </a:solidFill>
                <a:latin typeface="Times New Roman"/>
              </a:rPr>
              <a:t>Mastered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32688" y="5175503"/>
            <a:ext cx="4809744" cy="164592"/>
          </a:xfrm>
          <a:prstGeom prst="rect">
            <a:avLst/>
          </a:prstGeom>
          <a:solidFill>
            <a:srgbClr val="FAFAF8"/>
          </a:solidFill>
          <a:ln w="10160"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96696" y="5184647"/>
            <a:ext cx="229514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0" i="0">
                <a:solidFill>
                  <a:srgbClr val="2B323A"/>
                </a:solidFill>
                <a:latin typeface="Times New Roman"/>
              </a:rPr>
              <a:t>Negative Indexing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419856" y="5184647"/>
            <a:ext cx="2258568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1" i="0">
                <a:solidFill>
                  <a:srgbClr val="438969"/>
                </a:solidFill>
                <a:latin typeface="Times New Roman"/>
              </a:rPr>
              <a:t>Mastered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32688" y="5340095"/>
            <a:ext cx="4809744" cy="164592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96696" y="5349239"/>
            <a:ext cx="229514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0" i="0">
                <a:solidFill>
                  <a:srgbClr val="2B323A"/>
                </a:solidFill>
                <a:latin typeface="Times New Roman"/>
              </a:rPr>
              <a:t>Mutability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419856" y="5349239"/>
            <a:ext cx="2258568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1" i="0">
                <a:solidFill>
                  <a:srgbClr val="438969"/>
                </a:solidFill>
                <a:latin typeface="Times New Roman"/>
              </a:rPr>
              <a:t>Mastered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32688" y="5504687"/>
            <a:ext cx="4809744" cy="164592"/>
          </a:xfrm>
          <a:prstGeom prst="rect">
            <a:avLst/>
          </a:prstGeom>
          <a:solidFill>
            <a:srgbClr val="FAFAF8"/>
          </a:solidFill>
          <a:ln w="10160"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96696" y="5513831"/>
            <a:ext cx="2295144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0" i="0">
                <a:solidFill>
                  <a:srgbClr val="2B323A"/>
                </a:solidFill>
                <a:latin typeface="Times New Roman"/>
              </a:rPr>
              <a:t>Slicing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19856" y="5513831"/>
            <a:ext cx="2258568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69" b="1" i="0">
                <a:solidFill>
                  <a:srgbClr val="AE574F"/>
                </a:solidFill>
                <a:latin typeface="Times New Roman"/>
              </a:rPr>
              <a:t>Needs Remediation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 w="10160">
            <a:solidFill>
              <a:srgbClr val="F7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92608"/>
            <a:ext cx="438912" cy="32004"/>
          </a:xfrm>
          <a:prstGeom prst="rect">
            <a:avLst/>
          </a:prstGeom>
          <a:solidFill>
            <a:srgbClr val="1C3E68"/>
          </a:solidFill>
          <a:ln w="10160">
            <a:solidFill>
              <a:srgbClr val="1C3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9768"/>
            <a:ext cx="10872215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500" b="1" i="0">
                <a:solidFill>
                  <a:srgbClr val="1C3E68"/>
                </a:solidFill>
                <a:latin typeface="Times New Roman"/>
              </a:rPr>
              <a:t>VALIDATION &amp; EVIDENCE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960120"/>
            <a:ext cx="10872216" cy="0"/>
          </a:xfrm>
          <a:prstGeom prst="line">
            <a:avLst/>
          </a:prstGeom>
          <a:ln w="12700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1060704"/>
            <a:ext cx="1083564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656E79"/>
                </a:solidFill>
                <a:latin typeface="Times New Roman"/>
              </a:rPr>
              <a:t>What we test with external learners, what we record, and how those observations improve the product.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6455664"/>
            <a:ext cx="4133087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40" b="0" i="0">
                <a:solidFill>
                  <a:srgbClr val="656E79"/>
                </a:solidFill>
                <a:latin typeface="Times New Roman"/>
              </a:rPr>
              <a:t>20 September 2026   |   Team: AGENT KHANS   |   EDUNEXUS   |   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6784848" cy="4480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737360"/>
            <a:ext cx="32004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C3E68"/>
                </a:solidFill>
                <a:latin typeface="Times New Roman"/>
              </a:rPr>
              <a:t>EXTERNAL LEARNER VALIDATION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084832"/>
            <a:ext cx="6236208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69" b="0" i="0">
                <a:solidFill>
                  <a:srgbClr val="656E79"/>
                </a:solidFill>
                <a:latin typeface="Times New Roman"/>
              </a:rPr>
              <a:t>Each walkthrough should produce one observable behaviour, one design decision and one retest result.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" y="2578608"/>
            <a:ext cx="457200" cy="292608"/>
          </a:xfrm>
          <a:prstGeom prst="roundRect">
            <a:avLst/>
          </a:prstGeom>
          <a:solidFill>
            <a:srgbClr val="5B8FB9"/>
          </a:solidFill>
          <a:ln w="10160">
            <a:solidFill>
              <a:srgbClr val="5B8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0976" y="2628900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Times New Roman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569464"/>
            <a:ext cx="195681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C3E68"/>
                </a:solidFill>
                <a:latin typeface="Times New Roman"/>
              </a:rPr>
              <a:t>REMEDIATION CLARITY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532888"/>
            <a:ext cx="338328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10" b="0" i="0">
                <a:solidFill>
                  <a:srgbClr val="2B323A"/>
                </a:solidFill>
                <a:latin typeface="Times New Roman"/>
              </a:rPr>
              <a:t>Can the learner explain the misconception in their own words after remediation?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862072"/>
            <a:ext cx="33832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50" b="1" i="0">
                <a:solidFill>
                  <a:srgbClr val="656E79"/>
                </a:solidFill>
                <a:latin typeface="Times New Roman"/>
              </a:rPr>
              <a:t>What changed in the explanation?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32688" y="3163824"/>
            <a:ext cx="6236208" cy="0"/>
          </a:xfrm>
          <a:prstGeom prst="line">
            <a:avLst/>
          </a:prstGeom>
          <a:ln w="8890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32688" y="3328416"/>
            <a:ext cx="457200" cy="292608"/>
          </a:xfrm>
          <a:prstGeom prst="roundRect">
            <a:avLst/>
          </a:prstGeom>
          <a:solidFill>
            <a:srgbClr val="BE9643"/>
          </a:solidFill>
          <a:ln w="10160">
            <a:solidFill>
              <a:srgbClr val="BE9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3378708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Times New Roman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319272"/>
            <a:ext cx="195681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C3E68"/>
                </a:solidFill>
                <a:latin typeface="Times New Roman"/>
              </a:rPr>
              <a:t>VERIFICATION QUALITY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282696"/>
            <a:ext cx="338328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10" b="0" i="0">
                <a:solidFill>
                  <a:srgbClr val="2B323A"/>
                </a:solidFill>
                <a:latin typeface="Times New Roman"/>
              </a:rPr>
              <a:t>Can the learner solve a conceptually different question?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611880"/>
            <a:ext cx="33832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50" b="1" i="0">
                <a:solidFill>
                  <a:srgbClr val="656E79"/>
                </a:solidFill>
                <a:latin typeface="Times New Roman"/>
              </a:rPr>
              <a:t>Was the check genuinely independent?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2688" y="3913632"/>
            <a:ext cx="6236208" cy="0"/>
          </a:xfrm>
          <a:prstGeom prst="line">
            <a:avLst/>
          </a:prstGeom>
          <a:ln w="8890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32688" y="4078224"/>
            <a:ext cx="457200" cy="292608"/>
          </a:xfrm>
          <a:prstGeom prst="roundRect">
            <a:avLst/>
          </a:prstGeom>
          <a:solidFill>
            <a:srgbClr val="AE574F"/>
          </a:solidFill>
          <a:ln w="10160">
            <a:solidFill>
              <a:srgbClr val="AE57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128515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Times New Roman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069080"/>
            <a:ext cx="195681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C3E68"/>
                </a:solidFill>
                <a:latin typeface="Times New Roman"/>
              </a:rPr>
              <a:t>BACKWARD ROUTING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032504"/>
            <a:ext cx="338328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10" b="0" i="0">
                <a:solidFill>
                  <a:srgbClr val="2B323A"/>
                </a:solidFill>
                <a:latin typeface="Times New Roman"/>
              </a:rPr>
              <a:t>Does failed verification trigger a new strategy and remediation cycle?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0" y="4361688"/>
            <a:ext cx="33832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50" b="1" i="0">
                <a:solidFill>
                  <a:srgbClr val="656E79"/>
                </a:solidFill>
                <a:latin typeface="Times New Roman"/>
              </a:rPr>
              <a:t>Can the judge see the loop move backward?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2688" y="4663440"/>
            <a:ext cx="6236208" cy="0"/>
          </a:xfrm>
          <a:prstGeom prst="line">
            <a:avLst/>
          </a:prstGeom>
          <a:ln w="8890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32688" y="4828032"/>
            <a:ext cx="457200" cy="292608"/>
          </a:xfrm>
          <a:prstGeom prst="roundRect">
            <a:avLst/>
          </a:prstGeom>
          <a:solidFill>
            <a:srgbClr val="438969"/>
          </a:solidFill>
          <a:ln w="10160">
            <a:solidFill>
              <a:srgbClr val="438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0976" y="4878324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Times New Roman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4818888"/>
            <a:ext cx="195681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1" i="0">
                <a:solidFill>
                  <a:srgbClr val="1C3E68"/>
                </a:solidFill>
                <a:latin typeface="Times New Roman"/>
              </a:rPr>
              <a:t>STATE CONTINUITY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782312"/>
            <a:ext cx="338328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10" b="0" i="0">
                <a:solidFill>
                  <a:srgbClr val="2B323A"/>
                </a:solidFill>
                <a:latin typeface="Times New Roman"/>
              </a:rPr>
              <a:t>Does stored mastery/misconception history affect the next agent decision?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5111496"/>
            <a:ext cx="33832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50" b="1" i="0">
                <a:solidFill>
                  <a:srgbClr val="656E79"/>
                </a:solidFill>
                <a:latin typeface="Times New Roman"/>
              </a:rPr>
              <a:t>Does evidence persist across the run?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0960" y="1481328"/>
            <a:ext cx="3849623" cy="4480560"/>
          </a:xfrm>
          <a:prstGeom prst="roundRect">
            <a:avLst/>
          </a:prstGeom>
          <a:solidFill>
            <a:srgbClr val="E4ECF4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0" y="1737360"/>
            <a:ext cx="219456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C3E68"/>
                </a:solidFill>
                <a:latin typeface="Times New Roman"/>
              </a:rPr>
              <a:t>EVIDENCE LOOP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19872" y="2359152"/>
            <a:ext cx="2971799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47888" y="2432304"/>
            <a:ext cx="82296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30" b="1" i="0">
                <a:solidFill>
                  <a:srgbClr val="1C3E68"/>
                </a:solidFill>
                <a:latin typeface="Times New Roman"/>
              </a:rPr>
              <a:t>OBSERVE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0848" y="2414016"/>
            <a:ext cx="1892807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40" b="0" i="0">
                <a:solidFill>
                  <a:srgbClr val="2B323A"/>
                </a:solidFill>
                <a:latin typeface="Times New Roman"/>
              </a:rPr>
              <a:t>What the learner actually did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605772" y="2898648"/>
            <a:ext cx="0" cy="146304"/>
          </a:xfrm>
          <a:prstGeom prst="line">
            <a:avLst/>
          </a:prstGeom>
          <a:ln w="16510">
            <a:solidFill>
              <a:srgbClr val="1C3E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119872" y="3072384"/>
            <a:ext cx="2971799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47888" y="3145536"/>
            <a:ext cx="82296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30" b="1" i="0">
                <a:solidFill>
                  <a:srgbClr val="1C3E68"/>
                </a:solidFill>
                <a:latin typeface="Times New Roman"/>
              </a:rPr>
              <a:t>DIAGNOSE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70848" y="3127248"/>
            <a:ext cx="1892807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40" b="0" i="0">
                <a:solidFill>
                  <a:srgbClr val="2B323A"/>
                </a:solidFill>
                <a:latin typeface="Times New Roman"/>
              </a:rPr>
              <a:t>Issue or failed assumption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605772" y="3611880"/>
            <a:ext cx="0" cy="146304"/>
          </a:xfrm>
          <a:prstGeom prst="line">
            <a:avLst/>
          </a:prstGeom>
          <a:ln w="16510">
            <a:solidFill>
              <a:srgbClr val="1C3E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8119872" y="3785616"/>
            <a:ext cx="2971799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47888" y="3858768"/>
            <a:ext cx="82296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30" b="1" i="0">
                <a:solidFill>
                  <a:srgbClr val="1C3E68"/>
                </a:solidFill>
                <a:latin typeface="Times New Roman"/>
              </a:rPr>
              <a:t>CHANGE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70848" y="3840480"/>
            <a:ext cx="1892807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40" b="0" i="0">
                <a:solidFill>
                  <a:srgbClr val="2B323A"/>
                </a:solidFill>
                <a:latin typeface="Times New Roman"/>
              </a:rPr>
              <a:t>What the team modified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9605772" y="4325112"/>
            <a:ext cx="0" cy="146304"/>
          </a:xfrm>
          <a:prstGeom prst="line">
            <a:avLst/>
          </a:prstGeom>
          <a:ln w="16510">
            <a:solidFill>
              <a:srgbClr val="1C3E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8119872" y="4498848"/>
            <a:ext cx="2971799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47888" y="4572000"/>
            <a:ext cx="82296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30" b="1" i="0">
                <a:solidFill>
                  <a:srgbClr val="1C3E68"/>
                </a:solidFill>
                <a:latin typeface="Times New Roman"/>
              </a:rPr>
              <a:t>RETEST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70848" y="4553712"/>
            <a:ext cx="1892807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40" b="0" i="0">
                <a:solidFill>
                  <a:srgbClr val="2B323A"/>
                </a:solidFill>
                <a:latin typeface="Times New Roman"/>
              </a:rPr>
              <a:t>Same or comparable task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605772" y="5038344"/>
            <a:ext cx="0" cy="146304"/>
          </a:xfrm>
          <a:prstGeom prst="line">
            <a:avLst/>
          </a:prstGeom>
          <a:ln w="16510">
            <a:solidFill>
              <a:srgbClr val="1C3E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8119872" y="5212080"/>
            <a:ext cx="2971799" cy="53035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47888" y="5285232"/>
            <a:ext cx="82296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30" b="1" i="0">
                <a:solidFill>
                  <a:srgbClr val="1C3E68"/>
                </a:solidFill>
                <a:latin typeface="Times New Roman"/>
              </a:rPr>
              <a:t>OUTCOME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70848" y="5266944"/>
            <a:ext cx="1892807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40" b="0" i="0">
                <a:solidFill>
                  <a:srgbClr val="2B323A"/>
                </a:solidFill>
                <a:latin typeface="Times New Roman"/>
              </a:rPr>
              <a:t>What improved, failed or stayed unclear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8368" y="6071616"/>
            <a:ext cx="10872215" cy="31089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50976" y="6126480"/>
            <a:ext cx="10286999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50" b="1" i="0">
                <a:solidFill>
                  <a:srgbClr val="1C3E68"/>
                </a:solidFill>
                <a:latin typeface="Times New Roman"/>
              </a:rPr>
              <a:t>Evidence artifact: tester task  |  observed issue  |  design change  |  retest  |  outcome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 w="10160">
            <a:solidFill>
              <a:srgbClr val="F7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292608"/>
            <a:ext cx="438912" cy="32004"/>
          </a:xfrm>
          <a:prstGeom prst="rect">
            <a:avLst/>
          </a:prstGeom>
          <a:solidFill>
            <a:srgbClr val="1C3E68"/>
          </a:solidFill>
          <a:ln w="10160">
            <a:solidFill>
              <a:srgbClr val="1C3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9768"/>
            <a:ext cx="10872215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500" b="1" i="0">
                <a:solidFill>
                  <a:srgbClr val="1C3E68"/>
                </a:solidFill>
                <a:latin typeface="Times New Roman"/>
              </a:rPr>
              <a:t>ADVANTAGES &amp; FUTURE ENHANCEMENTS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960120"/>
            <a:ext cx="10872216" cy="0"/>
          </a:xfrm>
          <a:prstGeom prst="line">
            <a:avLst/>
          </a:prstGeom>
          <a:ln w="12700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76656" y="1060704"/>
            <a:ext cx="1083564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100" b="0" i="0">
                <a:solidFill>
                  <a:srgbClr val="656E79"/>
                </a:solidFill>
                <a:latin typeface="Times New Roman"/>
              </a:rPr>
              <a:t>Why the current prototype matters — and how the learner intelligence layer can grow.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6455664"/>
            <a:ext cx="4133087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40" b="0" i="0">
                <a:solidFill>
                  <a:srgbClr val="656E79"/>
                </a:solidFill>
                <a:latin typeface="Times New Roman"/>
              </a:rPr>
              <a:t>20 September 2026   |   Team: AGENT KHANS   |   EDUNEXUS   |   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5317236" cy="45537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13347" y="1481328"/>
            <a:ext cx="5317236" cy="4553712"/>
          </a:xfrm>
          <a:prstGeom prst="roundRect">
            <a:avLst/>
          </a:prstGeom>
          <a:solidFill>
            <a:srgbClr val="E4ECF4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37360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C3E68"/>
                </a:solidFill>
                <a:latin typeface="Times New Roman"/>
              </a:rPr>
              <a:t>KEY ADVANTAGES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7667" y="1737360"/>
            <a:ext cx="2834640" cy="274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00" b="1" i="0">
                <a:solidFill>
                  <a:srgbClr val="1C3E68"/>
                </a:solidFill>
                <a:latin typeface="Times New Roman"/>
              </a:rPr>
              <a:t>FUTURE ENHANCEMENTS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377440"/>
            <a:ext cx="457200" cy="292608"/>
          </a:xfrm>
          <a:prstGeom prst="roundRect">
            <a:avLst/>
          </a:prstGeom>
          <a:solidFill>
            <a:srgbClr val="5B8FB9"/>
          </a:solidFill>
          <a:ln w="10160">
            <a:solidFill>
              <a:srgbClr val="5B8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27732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Times New Roman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2359152"/>
            <a:ext cx="4165091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90" b="1" i="0">
                <a:solidFill>
                  <a:srgbClr val="1C3E68"/>
                </a:solidFill>
                <a:latin typeface="Times New Roman"/>
              </a:rPr>
              <a:t>EVIDENCE-DRIVEN PERSONALIZATION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642616"/>
            <a:ext cx="4165091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90" b="0" i="0">
                <a:solidFill>
                  <a:srgbClr val="2B323A"/>
                </a:solidFill>
                <a:latin typeface="Times New Roman"/>
              </a:rPr>
              <a:t>Learner responses update what the system believes about mastery instead of only updating a score.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" y="3127248"/>
            <a:ext cx="4786883" cy="0"/>
          </a:xfrm>
          <a:prstGeom prst="line">
            <a:avLst/>
          </a:prstGeom>
          <a:ln w="8890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14400" y="3218688"/>
            <a:ext cx="457200" cy="292608"/>
          </a:xfrm>
          <a:prstGeom prst="roundRect">
            <a:avLst/>
          </a:prstGeom>
          <a:solidFill>
            <a:srgbClr val="438969"/>
          </a:solidFill>
          <a:ln w="10160">
            <a:solidFill>
              <a:srgbClr val="438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268980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Times New Roman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3200400"/>
            <a:ext cx="4165091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90" b="1" i="0">
                <a:solidFill>
                  <a:srgbClr val="1C3E68"/>
                </a:solidFill>
                <a:latin typeface="Times New Roman"/>
              </a:rPr>
              <a:t>VERIFIED MASTERY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6192" y="3483864"/>
            <a:ext cx="4165091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90" b="0" i="0">
                <a:solidFill>
                  <a:srgbClr val="2B323A"/>
                </a:solidFill>
                <a:latin typeface="Times New Roman"/>
              </a:rPr>
              <a:t>A topic is not marked mastered until the learner succeeds on a different verification task.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4400" y="3968496"/>
            <a:ext cx="4786883" cy="0"/>
          </a:xfrm>
          <a:prstGeom prst="line">
            <a:avLst/>
          </a:prstGeom>
          <a:ln w="8890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4400" y="4059936"/>
            <a:ext cx="457200" cy="292608"/>
          </a:xfrm>
          <a:prstGeom prst="roundRect">
            <a:avLst/>
          </a:prstGeom>
          <a:solidFill>
            <a:srgbClr val="BE9643"/>
          </a:solidFill>
          <a:ln w="10160">
            <a:solidFill>
              <a:srgbClr val="BE9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110228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Times New Roman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36192" y="4041648"/>
            <a:ext cx="4165091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90" b="1" i="0">
                <a:solidFill>
                  <a:srgbClr val="1C3E68"/>
                </a:solidFill>
                <a:latin typeface="Times New Roman"/>
              </a:rPr>
              <a:t>PERSISTENT CONTINUITY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36192" y="4325112"/>
            <a:ext cx="4165091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90" b="0" i="0">
                <a:solidFill>
                  <a:srgbClr val="2B323A"/>
                </a:solidFill>
                <a:latin typeface="Times New Roman"/>
              </a:rPr>
              <a:t>Misconceptions, interventions and verification outcomes carry forward into later decisions.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14400" y="4809744"/>
            <a:ext cx="4786883" cy="0"/>
          </a:xfrm>
          <a:prstGeom prst="line">
            <a:avLst/>
          </a:prstGeom>
          <a:ln w="8890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14400" y="4901184"/>
            <a:ext cx="457200" cy="292608"/>
          </a:xfrm>
          <a:prstGeom prst="roundRect">
            <a:avLst/>
          </a:prstGeom>
          <a:solidFill>
            <a:srgbClr val="1C3E68"/>
          </a:solidFill>
          <a:ln w="10160">
            <a:solidFill>
              <a:srgbClr val="1C3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8" y="4951476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Times New Roman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36192" y="4882896"/>
            <a:ext cx="4165091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90" b="1" i="0">
                <a:solidFill>
                  <a:srgbClr val="1C3E68"/>
                </a:solidFill>
                <a:latin typeface="Times New Roman"/>
              </a:rPr>
              <a:t>SOURCE-GROUNDED SUPPORT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5166360"/>
            <a:ext cx="4165091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90" b="0" i="0">
                <a:solidFill>
                  <a:srgbClr val="2B323A"/>
                </a:solidFill>
                <a:latin typeface="Times New Roman"/>
              </a:rPr>
              <a:t>Retrieved learning material keeps explanations tied to the syllabus and learner context.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69379" y="2377440"/>
            <a:ext cx="457200" cy="292608"/>
          </a:xfrm>
          <a:prstGeom prst="roundRect">
            <a:avLst/>
          </a:prstGeom>
          <a:solidFill>
            <a:srgbClr val="1C3E68"/>
          </a:solidFill>
          <a:ln w="10160">
            <a:solidFill>
              <a:srgbClr val="1C3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87667" y="2427732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Times New Roman"/>
              </a:rPr>
              <a:t>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91171" y="2359152"/>
            <a:ext cx="4165091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90" b="1" i="0">
                <a:solidFill>
                  <a:srgbClr val="1C3E68"/>
                </a:solidFill>
                <a:latin typeface="Times New Roman"/>
              </a:rPr>
              <a:t>RICHER LEARNER INTELLIGENCE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91171" y="2642616"/>
            <a:ext cx="4165091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90" b="0" i="0">
                <a:solidFill>
                  <a:srgbClr val="2B323A"/>
                </a:solidFill>
                <a:latin typeface="Times New Roman"/>
              </a:rPr>
              <a:t>Track mastery trajectories, prerequisite gaps and misconception evolution over longer periods.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69379" y="3127248"/>
            <a:ext cx="4786884" cy="0"/>
          </a:xfrm>
          <a:prstGeom prst="line">
            <a:avLst/>
          </a:prstGeom>
          <a:ln w="8890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469379" y="3218688"/>
            <a:ext cx="457200" cy="292608"/>
          </a:xfrm>
          <a:prstGeom prst="roundRect">
            <a:avLst/>
          </a:prstGeom>
          <a:solidFill>
            <a:srgbClr val="5B8FB9"/>
          </a:solidFill>
          <a:ln w="10160">
            <a:solidFill>
              <a:srgbClr val="5B8F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87667" y="3268980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Times New Roman"/>
              </a:rPr>
              <a:t>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91171" y="3200400"/>
            <a:ext cx="4165091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90" b="1" i="0">
                <a:solidFill>
                  <a:srgbClr val="1C3E68"/>
                </a:solidFill>
                <a:latin typeface="Times New Roman"/>
              </a:rPr>
              <a:t>MULTIMODAL LEARNING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91171" y="3483864"/>
            <a:ext cx="4165091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90" b="0" i="0">
                <a:solidFill>
                  <a:srgbClr val="2B323A"/>
                </a:solidFill>
                <a:latin typeface="Times New Roman"/>
              </a:rPr>
              <a:t>Ground agents in PDFs, notes, handwriting, audio and lecture recordings.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469379" y="3968496"/>
            <a:ext cx="4786884" cy="0"/>
          </a:xfrm>
          <a:prstGeom prst="line">
            <a:avLst/>
          </a:prstGeom>
          <a:ln w="8890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469379" y="4059936"/>
            <a:ext cx="457200" cy="292608"/>
          </a:xfrm>
          <a:prstGeom prst="roundRect">
            <a:avLst/>
          </a:prstGeom>
          <a:solidFill>
            <a:srgbClr val="438969"/>
          </a:solidFill>
          <a:ln w="10160">
            <a:solidFill>
              <a:srgbClr val="438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87667" y="4110228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Times New Roman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91171" y="4041648"/>
            <a:ext cx="4165091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90" b="1" i="0">
                <a:solidFill>
                  <a:srgbClr val="1C3E68"/>
                </a:solidFill>
                <a:latin typeface="Times New Roman"/>
              </a:rPr>
              <a:t>HUMAN OVERSIGHT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91171" y="4325112"/>
            <a:ext cx="4165091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90" b="0" i="0">
                <a:solidFill>
                  <a:srgbClr val="2B323A"/>
                </a:solidFill>
                <a:latin typeface="Times New Roman"/>
              </a:rPr>
              <a:t>Allow faculty or mentors to review, validate or override high-impact recommendations.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469379" y="4809744"/>
            <a:ext cx="4786884" cy="0"/>
          </a:xfrm>
          <a:prstGeom prst="line">
            <a:avLst/>
          </a:prstGeom>
          <a:ln w="8890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6469379" y="4901184"/>
            <a:ext cx="457200" cy="292608"/>
          </a:xfrm>
          <a:prstGeom prst="roundRect">
            <a:avLst/>
          </a:prstGeom>
          <a:solidFill>
            <a:srgbClr val="BE9643"/>
          </a:solidFill>
          <a:ln w="10160">
            <a:solidFill>
              <a:srgbClr val="BE96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87667" y="4951476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Times New Roman"/>
              </a:rPr>
              <a:t>04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91171" y="4882896"/>
            <a:ext cx="4165091" cy="23774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90" b="1" i="0">
                <a:solidFill>
                  <a:srgbClr val="1C3E68"/>
                </a:solidFill>
                <a:latin typeface="Times New Roman"/>
              </a:rPr>
              <a:t>ACADEMIC-TO-CAREER CONTINUITY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91171" y="5166360"/>
            <a:ext cx="4165091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90" b="0" i="0">
                <a:solidFill>
                  <a:srgbClr val="2B323A"/>
                </a:solidFill>
                <a:latin typeface="Times New Roman"/>
              </a:rPr>
              <a:t>Connect verified competencies to projects, courses, internships and readiness-based pathways.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261872" y="6163056"/>
            <a:ext cx="9674352" cy="2926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81328" y="6208776"/>
            <a:ext cx="9235440" cy="1645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969" b="1" i="0">
                <a:solidFill>
                  <a:srgbClr val="1C3E68"/>
                </a:solidFill>
                <a:latin typeface="Times New Roman"/>
              </a:rPr>
              <a:t>CURRENT STRENGTH  →  VERIFIED ADAPTIVE MASTERY  →  LONG-TERM LEARNER INTELLIGENCE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D"/>
          </a:solidFill>
          <a:ln w="10160">
            <a:solidFill>
              <a:srgbClr val="F7F4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676656"/>
            <a:ext cx="3822191" cy="5431536"/>
          </a:xfrm>
          <a:prstGeom prst="roundRect">
            <a:avLst/>
          </a:prstGeom>
          <a:solidFill>
            <a:srgbClr val="1C3E68"/>
          </a:solidFill>
          <a:ln w="10160">
            <a:solidFill>
              <a:srgbClr val="1C3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682496"/>
            <a:ext cx="3127248" cy="11338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3100" b="1" i="0">
                <a:solidFill>
                  <a:srgbClr val="FFFFFF"/>
                </a:solidFill>
                <a:latin typeface="Times New Roman"/>
              </a:rPr>
              <a:t>THANK
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401568"/>
            <a:ext cx="3127248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650" b="1" i="0">
                <a:solidFill>
                  <a:srgbClr val="FFFFFF"/>
                </a:solidFill>
                <a:latin typeface="Times New Roman"/>
              </a:rPr>
              <a:t>EDUNEXUS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0704" y="3986784"/>
            <a:ext cx="3017520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100" b="0" i="0">
                <a:solidFill>
                  <a:srgbClr val="DBE5EF"/>
                </a:solidFill>
                <a:latin typeface="Times New Roman"/>
              </a:rPr>
              <a:t>Adaptive mastery through
evidence-driven agentic learning.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1078992"/>
            <a:ext cx="5394960" cy="47548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2800" b="1" i="0">
                <a:solidFill>
                  <a:srgbClr val="1C3E68"/>
                </a:solidFill>
                <a:latin typeface="Times New Roman"/>
              </a:rPr>
              <a:t>EDUNEXUS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1874519"/>
            <a:ext cx="5303520" cy="8046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860" b="1" i="0">
                <a:solidFill>
                  <a:srgbClr val="1C3E68"/>
                </a:solidFill>
                <a:latin typeface="Times New Roman"/>
              </a:rPr>
              <a:t>A learner should not have to start over
every time they make a mistake.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20640" y="3163824"/>
            <a:ext cx="5468112" cy="0"/>
          </a:xfrm>
          <a:prstGeom prst="line">
            <a:avLst/>
          </a:prstGeom>
          <a:ln w="29209">
            <a:solidFill>
              <a:srgbClr val="1C3E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20640" y="3547872"/>
            <a:ext cx="237744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240" b="1" i="0">
                <a:solidFill>
                  <a:srgbClr val="BE9643"/>
                </a:solidFill>
                <a:latin typeface="Times New Roman"/>
              </a:rPr>
              <a:t>TEAM AGENT KHANS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3968496"/>
            <a:ext cx="329184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80" b="1" i="0">
                <a:solidFill>
                  <a:srgbClr val="1C3E68"/>
                </a:solidFill>
                <a:latin typeface="Times New Roman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96127" y="3959352"/>
            <a:ext cx="230428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B323A"/>
                </a:solidFill>
                <a:latin typeface="Times New Roman"/>
              </a:rPr>
              <a:t>Shrine De Christiana JCR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4279392"/>
            <a:ext cx="329184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80" b="1" i="0">
                <a:solidFill>
                  <a:srgbClr val="1C3E68"/>
                </a:solidFill>
                <a:latin typeface="Times New Roman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96127" y="4270248"/>
            <a:ext cx="230428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B323A"/>
                </a:solidFill>
                <a:latin typeface="Times New Roman"/>
              </a:rPr>
              <a:t>Harshan 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590288"/>
            <a:ext cx="329184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80" b="1" i="0">
                <a:solidFill>
                  <a:srgbClr val="1C3E68"/>
                </a:solidFill>
                <a:latin typeface="Times New Roman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96127" y="4581144"/>
            <a:ext cx="230428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B323A"/>
                </a:solidFill>
                <a:latin typeface="Times New Roman"/>
              </a:rPr>
              <a:t>Kavin 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4901183"/>
            <a:ext cx="329184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80" b="1" i="0">
                <a:solidFill>
                  <a:srgbClr val="1C3E68"/>
                </a:solidFill>
                <a:latin typeface="Times New Roman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96127" y="4892040"/>
            <a:ext cx="230428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B323A"/>
                </a:solidFill>
                <a:latin typeface="Times New Roman"/>
              </a:rPr>
              <a:t>Niruthiyan BJ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5212079"/>
            <a:ext cx="329184" cy="182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880" b="1" i="0">
                <a:solidFill>
                  <a:srgbClr val="1C3E68"/>
                </a:solidFill>
                <a:latin typeface="Times New Roman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96127" y="5202936"/>
            <a:ext cx="2304288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950" b="0" i="0">
                <a:solidFill>
                  <a:srgbClr val="2B323A"/>
                </a:solidFill>
                <a:latin typeface="Times New Roman"/>
              </a:rPr>
              <a:t>Kaushya Smirti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94192" y="3858768"/>
            <a:ext cx="2505456" cy="859536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58784" y="4041648"/>
            <a:ext cx="2176272" cy="42062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890" b="0" i="0">
                <a:solidFill>
                  <a:srgbClr val="656E79"/>
                </a:solidFill>
                <a:latin typeface="Times New Roman"/>
              </a:rPr>
              <a:t>Madras Institute of Technology
Anna University, Chromepet, Chennai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6448" y="5074920"/>
            <a:ext cx="2944368" cy="475488"/>
          </a:xfrm>
          <a:prstGeom prst="roundRect">
            <a:avLst/>
          </a:prstGeom>
          <a:solidFill>
            <a:srgbClr val="E4ECF4"/>
          </a:solidFill>
          <a:ln w="10160">
            <a:solidFill>
              <a:srgbClr val="D7DB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84464" y="5184648"/>
            <a:ext cx="2688336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260" b="1" i="0">
                <a:solidFill>
                  <a:srgbClr val="1C3E68"/>
                </a:solidFill>
                <a:latin typeface="Times New Roman"/>
              </a:rPr>
              <a:t>Questions &amp; Discussion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6455664"/>
            <a:ext cx="4133087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740" b="0" i="0">
                <a:solidFill>
                  <a:srgbClr val="656E79"/>
                </a:solidFill>
                <a:latin typeface="Times New Roman"/>
              </a:rPr>
              <a:t>20 September 2026   |   Team: AGENT KHANS   |   EDUNEXUS   |  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